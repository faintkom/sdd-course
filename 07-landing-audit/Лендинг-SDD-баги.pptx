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Montserrat"/>
              </a:rPr>
              <a:t>Лендинг Spec-Driven Development</a:t>
            </a:r>
          </a:p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2000" b="0" i="0">
                <a:solidFill>
                  <a:srgbClr val="C9BEB0"/>
                </a:solidFill>
                <a:latin typeface="Montserrat"/>
              </a:rPr>
              <a:t>аудит багов · 1 слайд = 1 баг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20624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🔴 4 критичных  ·  🟠 6 вёрстка  ·  🟡 9 структура/воронка</a:t>
            </a:r>
          </a:p>
          <a:p>
            <a:pPr algn="l">
              <a:spcBef>
                <a:spcPts val="1000"/>
              </a:spcBef>
              <a:spcAft>
                <a:spcPts val="400"/>
              </a:spcAft>
            </a:pPr>
            <a:r>
              <a:rPr sz="1300" b="0" i="0">
                <a:solidFill>
                  <a:srgbClr val="C9BEB0"/>
                </a:solidFill>
                <a:latin typeface="Montserrat"/>
              </a:rPr>
              <a:t>Hero корректен (H1 «Управляемая разработка с ИИ»). Часть наложений — в скролл-секциях, помечены ⚠.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</a:pPr>
            <a:r>
              <a:rPr sz="1100" b="0" i="0">
                <a:solidFill>
                  <a:srgbClr val="6F6557"/>
                </a:solidFill>
                <a:latin typeface="Montserrat"/>
              </a:rPr>
              <a:t>proglib academy · методический + UX-разбор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2834640" cy="457200"/>
          </a:xfrm>
          <a:prstGeom prst="roundRect">
            <a:avLst/>
          </a:prstGeom>
          <a:solidFill>
            <a:srgbClr val="B55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Montserrat"/>
              </a:rPr>
              <a:t>● КРИТ · видно сразу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384048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6F6557"/>
                </a:solidFill>
                <a:latin typeface="Montserrat"/>
              </a:rPr>
              <a:t>Цена   ·   01/19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1C1917"/>
                </a:solidFill>
                <a:latin typeface="Montserrat"/>
              </a:rPr>
              <a:t>Цена — плейсхолдер, не проставлена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539496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B5523A"/>
                </a:solidFill>
                <a:latin typeface="Montserrat"/>
              </a:rPr>
              <a:t>ГДЕ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1C1917"/>
                </a:solidFill>
                <a:latin typeface="Montserrat"/>
              </a:rPr>
              <a:t>Блок оплаты (после программы)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B5523A"/>
                </a:solidFill>
                <a:latin typeface="Montserrat"/>
              </a:rPr>
              <a:t>ЧТО НЕ ТАК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1C1917"/>
                </a:solidFill>
                <a:latin typeface="Montserrat"/>
              </a:rPr>
              <a:t>Показано «00 000 ₽» и зачёркнутое «(000 000 ₽)» — заглушка вёрстки. Реальная цена и старая цена не подставлены.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6F7A52"/>
                </a:solidFill>
                <a:latin typeface="Montserrat"/>
              </a:rPr>
              <a:t>КАК ЧИНИТЬ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C1917"/>
                </a:solidFill>
                <a:latin typeface="Montserrat"/>
              </a:rPr>
              <a:t>Проставить реальную цену + цену по рассрочке/старую. Без цифры — либо честная цена, либо явный «по запросу».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2011680"/>
            <a:ext cx="5577840" cy="4297680"/>
          </a:xfrm>
          <a:prstGeom prst="roundRect">
            <a:avLst/>
          </a:prstGeom>
          <a:solidFill>
            <a:srgbClr val="ECE6DE"/>
          </a:solidFill>
          <a:ln w="15875">
            <a:solidFill>
              <a:srgbClr val="B55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</a:pPr>
            <a:r>
              <a:rPr sz="1600" b="1">
                <a:solidFill>
                  <a:srgbClr val="6F6557"/>
                </a:solidFill>
                <a:latin typeface="Montserrat"/>
              </a:rPr>
              <a:t>СКРИН — ВСТАВИТЬ</a:t>
            </a:r>
          </a:p>
          <a:p>
            <a:pPr algn="ctr">
              <a:spcBef>
                <a:spcPts val="600"/>
              </a:spcBef>
            </a:pPr>
            <a:r>
              <a:rPr sz="1300" b="0">
                <a:solidFill>
                  <a:srgbClr val="1C1917"/>
                </a:solidFill>
                <a:latin typeface="Montserrat"/>
              </a:rPr>
              <a:t>Блок оплаты: 00 000 ₽</a:t>
            </a:r>
          </a:p>
          <a:p>
            <a:pPr algn="ctr">
              <a:spcBef>
                <a:spcPts val="600"/>
              </a:spcBef>
            </a:pPr>
            <a:r>
              <a:rPr sz="1000" b="0">
                <a:solidFill>
                  <a:srgbClr val="6F6557"/>
                </a:solidFill>
                <a:latin typeface="Montserrat"/>
              </a:rPr>
              <a:t>файл: shots/01-price.png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2834640" cy="457200"/>
          </a:xfrm>
          <a:prstGeom prst="roundRect">
            <a:avLst/>
          </a:prstGeom>
          <a:solidFill>
            <a:srgbClr val="B55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Montserrat"/>
              </a:rPr>
              <a:t>● КРИТ · видно сразу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384048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6F6557"/>
                </a:solidFill>
                <a:latin typeface="Montserrat"/>
              </a:rPr>
              <a:t>Hero   ·   02/19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1C1917"/>
                </a:solidFill>
                <a:latin typeface="Montserrat"/>
              </a:rPr>
              <a:t>Hero: эйброу наезжает на под-строку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539496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B5523A"/>
                </a:solidFill>
                <a:latin typeface="Montserrat"/>
              </a:rPr>
              <a:t>ГДЕ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1C1917"/>
                </a:solidFill>
                <a:latin typeface="Montserrat"/>
              </a:rPr>
              <a:t>Первый экран, над H1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B5523A"/>
                </a:solidFill>
                <a:latin typeface="Montserrat"/>
              </a:rPr>
              <a:t>ЧТО НЕ ТАК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1C1917"/>
                </a:solidFill>
                <a:latin typeface="Montserrat"/>
              </a:rPr>
              <a:t>«SPEC-DRIVEN DEVELOPMENT» наложен на «8 недель · старт в июле» — читается как каша («SPEC-DRIVEN 8 недельOPMENT»).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6F7A52"/>
                </a:solidFill>
                <a:latin typeface="Montserrat"/>
              </a:rPr>
              <a:t>КАК ЧИНИТЬ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C1917"/>
                </a:solidFill>
                <a:latin typeface="Montserrat"/>
              </a:rPr>
              <a:t>Развести в разные строки: эйброу строкой выше; чипы «8 недель», «старт в июле» — отдельной строкой с отступом.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2011680"/>
            <a:ext cx="5577840" cy="4297680"/>
          </a:xfrm>
          <a:prstGeom prst="roundRect">
            <a:avLst/>
          </a:prstGeom>
          <a:solidFill>
            <a:srgbClr val="ECE6DE"/>
          </a:solidFill>
          <a:ln w="15875">
            <a:solidFill>
              <a:srgbClr val="B55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</a:pPr>
            <a:r>
              <a:rPr sz="1600" b="1">
                <a:solidFill>
                  <a:srgbClr val="6F6557"/>
                </a:solidFill>
                <a:latin typeface="Montserrat"/>
              </a:rPr>
              <a:t>СКРИН — ВСТАВИТЬ</a:t>
            </a:r>
          </a:p>
          <a:p>
            <a:pPr algn="ctr">
              <a:spcBef>
                <a:spcPts val="600"/>
              </a:spcBef>
            </a:pPr>
            <a:r>
              <a:rPr sz="1300" b="0">
                <a:solidFill>
                  <a:srgbClr val="1C1917"/>
                </a:solidFill>
                <a:latin typeface="Montserrat"/>
              </a:rPr>
              <a:t>Hero, левый верх над заголовком</a:t>
            </a:r>
          </a:p>
          <a:p>
            <a:pPr algn="ctr">
              <a:spcBef>
                <a:spcPts val="600"/>
              </a:spcBef>
            </a:pPr>
            <a:r>
              <a:rPr sz="1000" b="0">
                <a:solidFill>
                  <a:srgbClr val="6F6557"/>
                </a:solidFill>
                <a:latin typeface="Montserrat"/>
              </a:rPr>
              <a:t>файл: shots/02-hero-eyebrow.png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2834640" cy="457200"/>
          </a:xfrm>
          <a:prstGeom prst="roundRect">
            <a:avLst/>
          </a:prstGeom>
          <a:solidFill>
            <a:srgbClr val="B55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Montserrat"/>
              </a:rPr>
              <a:t>● КРИТ · видно сразу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384048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6F6557"/>
                </a:solidFill>
                <a:latin typeface="Montserrat"/>
              </a:rPr>
              <a:t>Hero   ·   03/19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1C1917"/>
                </a:solidFill>
                <a:latin typeface="Montserrat"/>
              </a:rPr>
              <a:t>Hero: строка пруфов склеена без разделителя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539496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B5523A"/>
                </a:solidFill>
                <a:latin typeface="Montserrat"/>
              </a:rPr>
              <a:t>ГДЕ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1C1917"/>
                </a:solidFill>
                <a:latin typeface="Montserrat"/>
              </a:rPr>
              <a:t>Первый экран, под подзаголовком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B5523A"/>
                </a:solidFill>
                <a:latin typeface="Montserrat"/>
              </a:rPr>
              <a:t>ЧТО НЕ ТАК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1C1917"/>
                </a:solidFill>
                <a:latin typeface="Montserrat"/>
              </a:rPr>
              <a:t>«…практические воркшопы с экспертом» и «сквозной проект…» слиплись: «…с экспертомсквозной проект…». Нет разделителя.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6F7A52"/>
                </a:solidFill>
                <a:latin typeface="Montserrat"/>
              </a:rPr>
              <a:t>КАК ЧИНИТЬ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C1917"/>
                </a:solidFill>
                <a:latin typeface="Montserrat"/>
              </a:rPr>
              <a:t>Разделитель между пруфами (· или флекс-гэп). Каждый пруф — отдельный пилл.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2011680"/>
            <a:ext cx="5577840" cy="4297680"/>
          </a:xfrm>
          <a:prstGeom prst="roundRect">
            <a:avLst/>
          </a:prstGeom>
          <a:solidFill>
            <a:srgbClr val="ECE6DE"/>
          </a:solidFill>
          <a:ln w="15875">
            <a:solidFill>
              <a:srgbClr val="B55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</a:pPr>
            <a:r>
              <a:rPr sz="1600" b="1">
                <a:solidFill>
                  <a:srgbClr val="6F6557"/>
                </a:solidFill>
                <a:latin typeface="Montserrat"/>
              </a:rPr>
              <a:t>СКРИН — ВСТАВИТЬ</a:t>
            </a:r>
          </a:p>
          <a:p>
            <a:pPr algn="ctr">
              <a:spcBef>
                <a:spcPts val="600"/>
              </a:spcBef>
            </a:pPr>
            <a:r>
              <a:rPr sz="1300" b="0">
                <a:solidFill>
                  <a:srgbClr val="1C1917"/>
                </a:solidFill>
                <a:latin typeface="Montserrat"/>
              </a:rPr>
              <a:t>Hero, строка пруфов</a:t>
            </a:r>
          </a:p>
          <a:p>
            <a:pPr algn="ctr">
              <a:spcBef>
                <a:spcPts val="600"/>
              </a:spcBef>
            </a:pPr>
            <a:r>
              <a:rPr sz="1000" b="0">
                <a:solidFill>
                  <a:srgbClr val="6F6557"/>
                </a:solidFill>
                <a:latin typeface="Montserrat"/>
              </a:rPr>
              <a:t>файл: shots/03-hero-proof.png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2834640" cy="457200"/>
          </a:xfrm>
          <a:prstGeom prst="roundRect">
            <a:avLst/>
          </a:prstGeom>
          <a:solidFill>
            <a:srgbClr val="B55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Montserrat"/>
              </a:rPr>
              <a:t>● КРИТ · видно сразу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384048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6F6557"/>
                </a:solidFill>
                <a:latin typeface="Montserrat"/>
              </a:rPr>
              <a:t>CTA-блок   ·   04/19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1C1917"/>
                </a:solidFill>
                <a:latin typeface="Montserrat"/>
              </a:rPr>
              <a:t>CTA «Готовы перейти»: заголовок наезжает на текст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539496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B5523A"/>
                </a:solidFill>
                <a:latin typeface="Montserrat"/>
              </a:rPr>
              <a:t>ГДЕ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1C1917"/>
                </a:solidFill>
                <a:latin typeface="Montserrat"/>
              </a:rPr>
              <a:t>Блок перед ценой (синяя карточка)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B5523A"/>
                </a:solidFill>
                <a:latin typeface="Montserrat"/>
              </a:rPr>
              <a:t>ЧТО НЕ ТАК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1C1917"/>
                </a:solidFill>
                <a:latin typeface="Montserrat"/>
              </a:rPr>
              <a:t>H2 «…к spec-driven development?» накладывается на буллеты «Живые воркшопы…». Line-height заголовка перекрывает список.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6F7A52"/>
                </a:solidFill>
                <a:latin typeface="Montserrat"/>
              </a:rPr>
              <a:t>КАК ЧИНИТЬ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C1917"/>
                </a:solidFill>
                <a:latin typeface="Montserrat"/>
              </a:rPr>
              <a:t>Увеличить отступ заголовок→список; проверить line-height H2 на 2 строки.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2011680"/>
            <a:ext cx="5577840" cy="4297680"/>
          </a:xfrm>
          <a:prstGeom prst="roundRect">
            <a:avLst/>
          </a:prstGeom>
          <a:solidFill>
            <a:srgbClr val="ECE6DE"/>
          </a:solidFill>
          <a:ln w="15875">
            <a:solidFill>
              <a:srgbClr val="B55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</a:pPr>
            <a:r>
              <a:rPr sz="1600" b="1">
                <a:solidFill>
                  <a:srgbClr val="6F6557"/>
                </a:solidFill>
                <a:latin typeface="Montserrat"/>
              </a:rPr>
              <a:t>СКРИН — ВСТАВИТЬ</a:t>
            </a:r>
          </a:p>
          <a:p>
            <a:pPr algn="ctr">
              <a:spcBef>
                <a:spcPts val="600"/>
              </a:spcBef>
            </a:pPr>
            <a:r>
              <a:rPr sz="1300" b="0">
                <a:solidFill>
                  <a:srgbClr val="1C1917"/>
                </a:solidFill>
                <a:latin typeface="Montserrat"/>
              </a:rPr>
              <a:t>Синяя карточка «Готовы перейти…»</a:t>
            </a:r>
          </a:p>
          <a:p>
            <a:pPr algn="ctr">
              <a:spcBef>
                <a:spcPts val="600"/>
              </a:spcBef>
            </a:pPr>
            <a:r>
              <a:rPr sz="1000" b="0">
                <a:solidFill>
                  <a:srgbClr val="6F6557"/>
                </a:solidFill>
                <a:latin typeface="Montserrat"/>
              </a:rPr>
              <a:t>файл: shots/04-cta-card.png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2834640" cy="457200"/>
          </a:xfrm>
          <a:prstGeom prst="roundRect">
            <a:avLst/>
          </a:prstGeom>
          <a:solidFill>
            <a:srgbClr val="C0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Montserrat"/>
              </a:rPr>
              <a:t>● ВЁРСТКА · наложение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384048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6F6557"/>
                </a:solidFill>
                <a:latin typeface="Montserrat"/>
              </a:rPr>
              <a:t>Вёрстка   ·   05/19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1C1917"/>
                </a:solidFill>
                <a:latin typeface="Montserrat"/>
              </a:rPr>
              <a:t>«Курс подойдёт»: карточки уровней наложены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539496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C07A2C"/>
                </a:solidFill>
                <a:latin typeface="Montserrat"/>
              </a:rPr>
              <a:t>ГДЕ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1C1917"/>
                </a:solidFill>
                <a:latin typeface="Montserrat"/>
              </a:rPr>
              <a:t>Блок «Курс подойдет, если вы»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C07A2C"/>
                </a:solidFill>
                <a:latin typeface="Montserrat"/>
              </a:rPr>
              <a:t>ЧТО НЕ ТАК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1C1917"/>
                </a:solidFill>
                <a:latin typeface="Montserrat"/>
              </a:rPr>
              <a:t>Карточки Senior/Middle/Junior отрисованы стопкой друг на друге — текст в нечитаемую кашу. Справа обрезается «…этот к[урс]».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6F7A52"/>
                </a:solidFill>
                <a:latin typeface="Montserrat"/>
              </a:rPr>
              <a:t>КАК ЧИНИТЬ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C1917"/>
                </a:solidFill>
                <a:latin typeface="Montserrat"/>
              </a:rPr>
              <a:t>Развести карточки уровней по сетке/слайдеру; убрать overflow заголовка по правому краю.</a:t>
            </a:r>
          </a:p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1200" b="0" i="1">
                <a:solidFill>
                  <a:srgbClr val="B5523A"/>
                </a:solidFill>
                <a:latin typeface="Montserrat"/>
              </a:rPr>
              <a:t>⚠ Проверить на живом плавном скролле — возможно артефакт скролл-анимации, не баг.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2011680"/>
            <a:ext cx="5577840" cy="4297680"/>
          </a:xfrm>
          <a:prstGeom prst="roundRect">
            <a:avLst/>
          </a:prstGeom>
          <a:solidFill>
            <a:srgbClr val="ECE6DE"/>
          </a:solidFill>
          <a:ln w="15875">
            <a:solidFill>
              <a:srgbClr val="C07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</a:pPr>
            <a:r>
              <a:rPr sz="1600" b="1">
                <a:solidFill>
                  <a:srgbClr val="6F6557"/>
                </a:solidFill>
                <a:latin typeface="Montserrat"/>
              </a:rPr>
              <a:t>СКРИН — ВСТАВИТЬ</a:t>
            </a:r>
          </a:p>
          <a:p>
            <a:pPr algn="ctr">
              <a:spcBef>
                <a:spcPts val="600"/>
              </a:spcBef>
            </a:pPr>
            <a:r>
              <a:rPr sz="1300" b="0">
                <a:solidFill>
                  <a:srgbClr val="1C1917"/>
                </a:solidFill>
                <a:latin typeface="Montserrat"/>
              </a:rPr>
              <a:t>Блок «Курс подойдёт, если вы»</a:t>
            </a:r>
          </a:p>
          <a:p>
            <a:pPr algn="ctr">
              <a:spcBef>
                <a:spcPts val="600"/>
              </a:spcBef>
            </a:pPr>
            <a:r>
              <a:rPr sz="1000" b="0">
                <a:solidFill>
                  <a:srgbClr val="6F6557"/>
                </a:solidFill>
                <a:latin typeface="Montserrat"/>
              </a:rPr>
              <a:t>файл: shots/05-audience.png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2834640" cy="457200"/>
          </a:xfrm>
          <a:prstGeom prst="roundRect">
            <a:avLst/>
          </a:prstGeom>
          <a:solidFill>
            <a:srgbClr val="C0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Montserrat"/>
              </a:rPr>
              <a:t>● ВЁРСТКА · наложение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384048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6F6557"/>
                </a:solidFill>
                <a:latin typeface="Montserrat"/>
              </a:rPr>
              <a:t>Вёрстка   ·   06/19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1C1917"/>
                </a:solidFill>
                <a:latin typeface="Montserrat"/>
              </a:rPr>
              <a:t>Блок проблем: тексты пунктов наложены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539496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C07A2C"/>
                </a:solidFill>
                <a:latin typeface="Montserrat"/>
              </a:rPr>
              <a:t>ГДЕ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1C1917"/>
                </a:solidFill>
                <a:latin typeface="Montserrat"/>
              </a:rPr>
              <a:t>Блок «…предсказуемый результат» (6 ✗)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C07A2C"/>
                </a:solidFill>
                <a:latin typeface="Montserrat"/>
              </a:rPr>
              <a:t>ЧТО НЕ ТАК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1C1917"/>
                </a:solidFill>
                <a:latin typeface="Montserrat"/>
              </a:rPr>
              <a:t>Тексты 6 проблем отрисованы друг на друге справа от крестиков — нечитаемо.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6F7A52"/>
                </a:solidFill>
                <a:latin typeface="Montserrat"/>
              </a:rPr>
              <a:t>КАК ЧИНИТЬ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C1917"/>
                </a:solidFill>
                <a:latin typeface="Montserrat"/>
              </a:rPr>
              <a:t>Каждую проблему — в свой ряд/карточку с фиксированной позицией.</a:t>
            </a:r>
          </a:p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1200" b="0" i="1">
                <a:solidFill>
                  <a:srgbClr val="B5523A"/>
                </a:solidFill>
                <a:latin typeface="Montserrat"/>
              </a:rPr>
              <a:t>⚠ Проверить на живом плавном скролле — возможно артефакт скролл-анимации, не баг.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2011680"/>
            <a:ext cx="5577840" cy="4297680"/>
          </a:xfrm>
          <a:prstGeom prst="roundRect">
            <a:avLst/>
          </a:prstGeom>
          <a:solidFill>
            <a:srgbClr val="ECE6DE"/>
          </a:solidFill>
          <a:ln w="15875">
            <a:solidFill>
              <a:srgbClr val="C07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</a:pPr>
            <a:r>
              <a:rPr sz="1600" b="1">
                <a:solidFill>
                  <a:srgbClr val="6F6557"/>
                </a:solidFill>
                <a:latin typeface="Montserrat"/>
              </a:rPr>
              <a:t>СКРИН — ВСТАВИТЬ</a:t>
            </a:r>
          </a:p>
          <a:p>
            <a:pPr algn="ctr">
              <a:spcBef>
                <a:spcPts val="600"/>
              </a:spcBef>
            </a:pPr>
            <a:r>
              <a:rPr sz="1300" b="0">
                <a:solidFill>
                  <a:srgbClr val="1C1917"/>
                </a:solidFill>
                <a:latin typeface="Montserrat"/>
              </a:rPr>
              <a:t>Блок 6 проблем с красными ✗</a:t>
            </a:r>
          </a:p>
          <a:p>
            <a:pPr algn="ctr">
              <a:spcBef>
                <a:spcPts val="600"/>
              </a:spcBef>
            </a:pPr>
            <a:r>
              <a:rPr sz="1000" b="0">
                <a:solidFill>
                  <a:srgbClr val="6F6557"/>
                </a:solidFill>
                <a:latin typeface="Montserrat"/>
              </a:rPr>
              <a:t>файл: shots/06-problems.png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2834640" cy="457200"/>
          </a:xfrm>
          <a:prstGeom prst="roundRect">
            <a:avLst/>
          </a:prstGeom>
          <a:solidFill>
            <a:srgbClr val="C0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Montserrat"/>
              </a:rPr>
              <a:t>● ВЁРСТКА · наложение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384048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6F6557"/>
                </a:solidFill>
                <a:latin typeface="Montserrat"/>
              </a:rPr>
              <a:t>Вёрстка   ·   07/19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1C1917"/>
                </a:solidFill>
                <a:latin typeface="Montserrat"/>
              </a:rPr>
              <a:t>Цикл SDD: подписи свалены в угол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539496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C07A2C"/>
                </a:solidFill>
                <a:latin typeface="Montserrat"/>
              </a:rPr>
              <a:t>ГДЕ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1C1917"/>
                </a:solidFill>
                <a:latin typeface="Montserrat"/>
              </a:rPr>
              <a:t>Блок «Spec-Driven Development» (диаграмма)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C07A2C"/>
                </a:solidFill>
                <a:latin typeface="Montserrat"/>
              </a:rPr>
              <a:t>ЧТО НЕ ТАК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1C1917"/>
                </a:solidFill>
                <a:latin typeface="Montserrat"/>
              </a:rPr>
              <a:t>Подписи Спецификация/Контекст/Реализация/Тесты/Ревью/Доработка/Защита свалены внахлёст в нижний-левый угол вместо распределения по линии.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6F7A52"/>
                </a:solidFill>
                <a:latin typeface="Montserrat"/>
              </a:rPr>
              <a:t>КАК ЧИНИТЬ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C1917"/>
                </a:solidFill>
                <a:latin typeface="Montserrat"/>
              </a:rPr>
              <a:t>Раскидать подписи вдоль кривой по якорям; проверить, что позиционирование анимации срабатывает.</a:t>
            </a:r>
          </a:p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1200" b="0" i="1">
                <a:solidFill>
                  <a:srgbClr val="B5523A"/>
                </a:solidFill>
                <a:latin typeface="Montserrat"/>
              </a:rPr>
              <a:t>⚠ Проверить на живом плавном скролле — возможно артефакт скролл-анимации, не баг.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2011680"/>
            <a:ext cx="5577840" cy="4297680"/>
          </a:xfrm>
          <a:prstGeom prst="roundRect">
            <a:avLst/>
          </a:prstGeom>
          <a:solidFill>
            <a:srgbClr val="ECE6DE"/>
          </a:solidFill>
          <a:ln w="15875">
            <a:solidFill>
              <a:srgbClr val="C07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</a:pPr>
            <a:r>
              <a:rPr sz="1600" b="1">
                <a:solidFill>
                  <a:srgbClr val="6F6557"/>
                </a:solidFill>
                <a:latin typeface="Montserrat"/>
              </a:rPr>
              <a:t>СКРИН — ВСТАВИТЬ</a:t>
            </a:r>
          </a:p>
          <a:p>
            <a:pPr algn="ctr">
              <a:spcBef>
                <a:spcPts val="600"/>
              </a:spcBef>
            </a:pPr>
            <a:r>
              <a:rPr sz="1300" b="0">
                <a:solidFill>
                  <a:srgbClr val="1C1917"/>
                </a:solidFill>
                <a:latin typeface="Montserrat"/>
              </a:rPr>
              <a:t>Диаграмма цикла SDD</a:t>
            </a:r>
          </a:p>
          <a:p>
            <a:pPr algn="ctr">
              <a:spcBef>
                <a:spcPts val="600"/>
              </a:spcBef>
            </a:pPr>
            <a:r>
              <a:rPr sz="1000" b="0">
                <a:solidFill>
                  <a:srgbClr val="6F6557"/>
                </a:solidFill>
                <a:latin typeface="Montserrat"/>
              </a:rPr>
              <a:t>файл: shots/07-cycle.png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2834640" cy="457200"/>
          </a:xfrm>
          <a:prstGeom prst="roundRect">
            <a:avLst/>
          </a:prstGeom>
          <a:solidFill>
            <a:srgbClr val="C0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Montserrat"/>
              </a:rPr>
              <a:t>● ВЁРСТКА · наложение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384048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6F6557"/>
                </a:solidFill>
                <a:latin typeface="Montserrat"/>
              </a:rPr>
              <a:t>Вёрстка   ·   08/19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1C1917"/>
                </a:solidFill>
                <a:latin typeface="Montserrat"/>
              </a:rPr>
              <a:t>GitHub-секция: чужая врезка наезжает на сетку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539496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C07A2C"/>
                </a:solidFill>
                <a:latin typeface="Montserrat"/>
              </a:rPr>
              <a:t>ГДЕ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1C1917"/>
                </a:solidFill>
                <a:latin typeface="Montserrat"/>
              </a:rPr>
              <a:t>Блок «Что окажется в вашем GitHub»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C07A2C"/>
                </a:solidFill>
                <a:latin typeface="Montserrat"/>
              </a:rPr>
              <a:t>ЧТО НЕ ТАК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1C1917"/>
                </a:solidFill>
                <a:latin typeface="Montserrat"/>
              </a:rPr>
              <a:t>Поверх карточек {1}-{6} справа наезжает блок «Формат практики — воркшоп / Не просто домашка…» — элемент вне своего контейнера.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6F7A52"/>
                </a:solidFill>
                <a:latin typeface="Montserrat"/>
              </a:rPr>
              <a:t>КАК ЧИНИТЬ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C1917"/>
                </a:solidFill>
                <a:latin typeface="Montserrat"/>
              </a:rPr>
              <a:t>Вынести «Формат практики» в свою секцию; убрать absolute-наложение на GitHub-сетку.</a:t>
            </a:r>
          </a:p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1200" b="0" i="1">
                <a:solidFill>
                  <a:srgbClr val="B5523A"/>
                </a:solidFill>
                <a:latin typeface="Montserrat"/>
              </a:rPr>
              <a:t>⚠ Проверить на живом плавном скролле — возможно артефакт скролл-анимации, не баг.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2011680"/>
            <a:ext cx="5577840" cy="4297680"/>
          </a:xfrm>
          <a:prstGeom prst="roundRect">
            <a:avLst/>
          </a:prstGeom>
          <a:solidFill>
            <a:srgbClr val="ECE6DE"/>
          </a:solidFill>
          <a:ln w="15875">
            <a:solidFill>
              <a:srgbClr val="C07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</a:pPr>
            <a:r>
              <a:rPr sz="1600" b="1">
                <a:solidFill>
                  <a:srgbClr val="6F6557"/>
                </a:solidFill>
                <a:latin typeface="Montserrat"/>
              </a:rPr>
              <a:t>СКРИН — ВСТАВИТЬ</a:t>
            </a:r>
          </a:p>
          <a:p>
            <a:pPr algn="ctr">
              <a:spcBef>
                <a:spcPts val="600"/>
              </a:spcBef>
            </a:pPr>
            <a:r>
              <a:rPr sz="1300" b="0">
                <a:solidFill>
                  <a:srgbClr val="1C1917"/>
                </a:solidFill>
                <a:latin typeface="Montserrat"/>
              </a:rPr>
              <a:t>GitHub-секция + врезка «Формат практики»</a:t>
            </a:r>
          </a:p>
          <a:p>
            <a:pPr algn="ctr">
              <a:spcBef>
                <a:spcPts val="600"/>
              </a:spcBef>
            </a:pPr>
            <a:r>
              <a:rPr sz="1000" b="0">
                <a:solidFill>
                  <a:srgbClr val="6F6557"/>
                </a:solidFill>
                <a:latin typeface="Montserrat"/>
              </a:rPr>
              <a:t>файл: shots/08-github-bleed.png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2834640" cy="457200"/>
          </a:xfrm>
          <a:prstGeom prst="roundRect">
            <a:avLst/>
          </a:prstGeom>
          <a:solidFill>
            <a:srgbClr val="C0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Montserrat"/>
              </a:rPr>
              <a:t>● ВЁРСТКА · наложение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384048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6F6557"/>
                </a:solidFill>
                <a:latin typeface="Montserrat"/>
              </a:rPr>
              <a:t>Вёрстка   ·   09/19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1C1917"/>
                </a:solidFill>
                <a:latin typeface="Montserrat"/>
              </a:rPr>
              <a:t>«За 8 недель»: ярлыки орбиты наложены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539496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C07A2C"/>
                </a:solidFill>
                <a:latin typeface="Montserrat"/>
              </a:rPr>
              <a:t>ГДЕ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1C1917"/>
                </a:solidFill>
                <a:latin typeface="Montserrat"/>
              </a:rPr>
              <a:t>Блок «За 8 недель вы построите…»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C07A2C"/>
                </a:solidFill>
                <a:latin typeface="Montserrat"/>
              </a:rPr>
              <a:t>ЧТО НЕ ТАК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1C1917"/>
                </a:solidFill>
                <a:latin typeface="Montserrat"/>
              </a:rPr>
              <a:t>Справа ярлыки «Templates» и «GitHub» наложены друг на друга.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6F7A52"/>
                </a:solidFill>
                <a:latin typeface="Montserrat"/>
              </a:rPr>
              <a:t>КАК ЧИНИТЬ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C1917"/>
                </a:solidFill>
                <a:latin typeface="Montserrat"/>
              </a:rPr>
              <a:t>Развести подписи орбиты по углам/радиусу; проверить анимацию.</a:t>
            </a:r>
          </a:p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1200" b="0" i="1">
                <a:solidFill>
                  <a:srgbClr val="B5523A"/>
                </a:solidFill>
                <a:latin typeface="Montserrat"/>
              </a:rPr>
              <a:t>⚠ Проверить на живом плавном скролле — возможно артефакт скролл-анимации, не баг.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2011680"/>
            <a:ext cx="5577840" cy="4297680"/>
          </a:xfrm>
          <a:prstGeom prst="roundRect">
            <a:avLst/>
          </a:prstGeom>
          <a:solidFill>
            <a:srgbClr val="ECE6DE"/>
          </a:solidFill>
          <a:ln w="15875">
            <a:solidFill>
              <a:srgbClr val="C07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</a:pPr>
            <a:r>
              <a:rPr sz="1600" b="1">
                <a:solidFill>
                  <a:srgbClr val="6F6557"/>
                </a:solidFill>
                <a:latin typeface="Montserrat"/>
              </a:rPr>
              <a:t>СКРИН — ВСТАВИТЬ</a:t>
            </a:r>
          </a:p>
          <a:p>
            <a:pPr algn="ctr">
              <a:spcBef>
                <a:spcPts val="600"/>
              </a:spcBef>
            </a:pPr>
            <a:r>
              <a:rPr sz="1300" b="0">
                <a:solidFill>
                  <a:srgbClr val="1C1917"/>
                </a:solidFill>
                <a:latin typeface="Montserrat"/>
              </a:rPr>
              <a:t>Блок «За 8 недель…», правый край</a:t>
            </a:r>
          </a:p>
          <a:p>
            <a:pPr algn="ctr">
              <a:spcBef>
                <a:spcPts val="600"/>
              </a:spcBef>
            </a:pPr>
            <a:r>
              <a:rPr sz="1000" b="0">
                <a:solidFill>
                  <a:srgbClr val="6F6557"/>
                </a:solidFill>
                <a:latin typeface="Montserrat"/>
              </a:rPr>
              <a:t>файл: shots/09-orbit.png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2834640" cy="457200"/>
          </a:xfrm>
          <a:prstGeom prst="roundRect">
            <a:avLst/>
          </a:prstGeom>
          <a:solidFill>
            <a:srgbClr val="C0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Montserrat"/>
              </a:rPr>
              <a:t>● ВЁРСТКА · наложение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384048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6F6557"/>
                </a:solidFill>
                <a:latin typeface="Montserrat"/>
              </a:rPr>
              <a:t>Вёрстка   ·   10/19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1C1917"/>
                </a:solidFill>
                <a:latin typeface="Montserrat"/>
              </a:rPr>
              <a:t>«Что заберёте»: нахлёст пилюль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539496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C07A2C"/>
                </a:solidFill>
                <a:latin typeface="Montserrat"/>
              </a:rPr>
              <a:t>ГДЕ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1C1917"/>
                </a:solidFill>
                <a:latin typeface="Montserrat"/>
              </a:rPr>
              <a:t>Бегущая строка артефактов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C07A2C"/>
                </a:solidFill>
                <a:latin typeface="Montserrat"/>
              </a:rPr>
              <a:t>ЧТО НЕ ТАК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1C1917"/>
                </a:solidFill>
                <a:latin typeface="Montserrat"/>
              </a:rPr>
              <a:t>По краям marquee пилюли наезжают/дублируются («Spec-driven / Spec-driven workflow»), левый край обрезан.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6F7A52"/>
                </a:solidFill>
                <a:latin typeface="Montserrat"/>
              </a:rPr>
              <a:t>КАК ЧИНИТЬ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C1917"/>
                </a:solidFill>
                <a:latin typeface="Montserrat"/>
              </a:rPr>
              <a:t>Маска/паддинг по краям строки; интервал между пилюлями.</a:t>
            </a:r>
          </a:p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1200" b="0" i="1">
                <a:solidFill>
                  <a:srgbClr val="B5523A"/>
                </a:solidFill>
                <a:latin typeface="Montserrat"/>
              </a:rPr>
              <a:t>⚠ Проверить на живом плавном скролле — возможно артефакт скролл-анимации, не баг.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2011680"/>
            <a:ext cx="5577840" cy="4297680"/>
          </a:xfrm>
          <a:prstGeom prst="roundRect">
            <a:avLst/>
          </a:prstGeom>
          <a:solidFill>
            <a:srgbClr val="ECE6DE"/>
          </a:solidFill>
          <a:ln w="15875">
            <a:solidFill>
              <a:srgbClr val="C07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</a:pPr>
            <a:r>
              <a:rPr sz="1600" b="1">
                <a:solidFill>
                  <a:srgbClr val="6F6557"/>
                </a:solidFill>
                <a:latin typeface="Montserrat"/>
              </a:rPr>
              <a:t>СКРИН — ВСТАВИТЬ</a:t>
            </a:r>
          </a:p>
          <a:p>
            <a:pPr algn="ctr">
              <a:spcBef>
                <a:spcPts val="600"/>
              </a:spcBef>
            </a:pPr>
            <a:r>
              <a:rPr sz="1300" b="0">
                <a:solidFill>
                  <a:srgbClr val="1C1917"/>
                </a:solidFill>
                <a:latin typeface="Montserrat"/>
              </a:rPr>
              <a:t>Бегущая строка «Что заберёте»</a:t>
            </a:r>
          </a:p>
          <a:p>
            <a:pPr algn="ctr">
              <a:spcBef>
                <a:spcPts val="600"/>
              </a:spcBef>
            </a:pPr>
            <a:r>
              <a:rPr sz="1000" b="0">
                <a:solidFill>
                  <a:srgbClr val="6F6557"/>
                </a:solidFill>
                <a:latin typeface="Montserrat"/>
              </a:rPr>
              <a:t>файл: shots/10-pills.png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2834640" cy="457200"/>
          </a:xfrm>
          <a:prstGeom prst="roundRect">
            <a:avLst/>
          </a:prstGeom>
          <a:solidFill>
            <a:srgbClr val="6F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Montserrat"/>
              </a:rPr>
              <a:t>● СТРУКТУРА / ВОРОНКА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384048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6F6557"/>
                </a:solidFill>
                <a:latin typeface="Montserrat"/>
              </a:rPr>
              <a:t>Структура   ·   11/19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1C1917"/>
                </a:solidFill>
                <a:latin typeface="Montserrat"/>
              </a:rPr>
              <a:t>Нет блока «Преподаватель»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539496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6F7A52"/>
                </a:solidFill>
                <a:latin typeface="Montserrat"/>
              </a:rPr>
              <a:t>ГДЕ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1C1917"/>
                </a:solidFill>
                <a:latin typeface="Montserrat"/>
              </a:rPr>
              <a:t>Между программой/GitHub и футером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6F7A52"/>
                </a:solidFill>
                <a:latin typeface="Montserrat"/>
              </a:rPr>
              <a:t>ЧТО НЕ ТАК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1C1917"/>
                </a:solidFill>
                <a:latin typeface="Montserrat"/>
              </a:rPr>
              <a:t>Живой воркшоп продаёт человек. Блока с экспертом (кто ведёт, опыт, чем доказал) — нет. Дыра доверия на дорогом продукте.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6F7A52"/>
                </a:solidFill>
                <a:latin typeface="Montserrat"/>
              </a:rPr>
              <a:t>КАК ЧИНИТЬ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C1917"/>
                </a:solidFill>
                <a:latin typeface="Montserrat"/>
              </a:rPr>
              <a:t>Добавить блок «Преподаватель»: фото, регалии, релевантный опыт, 1-2 строки «почему верить». Перед ценой.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2011680"/>
            <a:ext cx="5577840" cy="4297680"/>
          </a:xfrm>
          <a:prstGeom prst="roundRect">
            <a:avLst/>
          </a:prstGeom>
          <a:solidFill>
            <a:srgbClr val="ECE6DE"/>
          </a:solidFill>
          <a:ln w="15875">
            <a:solidFill>
              <a:srgbClr val="6F7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</a:pPr>
            <a:r>
              <a:rPr sz="1600" b="1">
                <a:solidFill>
                  <a:srgbClr val="6F6557"/>
                </a:solidFill>
                <a:latin typeface="Montserrat"/>
              </a:rPr>
              <a:t>СКРИН — ВСТАВИТЬ</a:t>
            </a:r>
          </a:p>
          <a:p>
            <a:pPr algn="ctr">
              <a:spcBef>
                <a:spcPts val="600"/>
              </a:spcBef>
            </a:pPr>
            <a:r>
              <a:rPr sz="1300" b="0">
                <a:solidFill>
                  <a:srgbClr val="1C1917"/>
                </a:solidFill>
                <a:latin typeface="Montserrat"/>
              </a:rPr>
              <a:t>Место перед ценой (сейчас пусто)</a:t>
            </a:r>
          </a:p>
          <a:p>
            <a:pPr algn="ctr">
              <a:spcBef>
                <a:spcPts val="600"/>
              </a:spcBef>
            </a:pPr>
            <a:r>
              <a:rPr sz="1000" b="0">
                <a:solidFill>
                  <a:srgbClr val="6F6557"/>
                </a:solidFill>
                <a:latin typeface="Montserrat"/>
              </a:rPr>
              <a:t>файл: shots/11-teacher.png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2834640" cy="457200"/>
          </a:xfrm>
          <a:prstGeom prst="roundRect">
            <a:avLst/>
          </a:prstGeom>
          <a:solidFill>
            <a:srgbClr val="6F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Montserrat"/>
              </a:rPr>
              <a:t>● СТРУКТУРА / ВОРОНКА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384048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6F6557"/>
                </a:solidFill>
                <a:latin typeface="Montserrat"/>
              </a:rPr>
              <a:t>Структура   ·   12/19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1C1917"/>
                </a:solidFill>
                <a:latin typeface="Montserrat"/>
              </a:rPr>
              <a:t>Нет FAQ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539496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6F7A52"/>
                </a:solidFill>
                <a:latin typeface="Montserrat"/>
              </a:rPr>
              <a:t>ГДЕ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1C1917"/>
                </a:solidFill>
                <a:latin typeface="Montserrat"/>
              </a:rPr>
              <a:t>Перед финальным CTA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6F7A52"/>
                </a:solidFill>
                <a:latin typeface="Montserrat"/>
              </a:rPr>
              <a:t>ЧТО НЕ ТАК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1C1917"/>
                </a:solidFill>
                <a:latin typeface="Montserrat"/>
              </a:rPr>
              <a:t>Нет блока вопросов-ответов — возражения не сняты.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6F7A52"/>
                </a:solidFill>
                <a:latin typeface="Montserrat"/>
              </a:rPr>
              <a:t>КАК ЧИНИТЬ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C1917"/>
                </a:solidFill>
                <a:latin typeface="Montserrat"/>
              </a:rPr>
              <a:t>FAQ 6-8 Q: нагрузка/часы, нужен ли свой проект, какой стек, платны ли токены, что если пропущу, записи, возврат.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2011680"/>
            <a:ext cx="5577840" cy="4297680"/>
          </a:xfrm>
          <a:prstGeom prst="roundRect">
            <a:avLst/>
          </a:prstGeom>
          <a:solidFill>
            <a:srgbClr val="ECE6DE"/>
          </a:solidFill>
          <a:ln w="15875">
            <a:solidFill>
              <a:srgbClr val="6F7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</a:pPr>
            <a:r>
              <a:rPr sz="1600" b="1">
                <a:solidFill>
                  <a:srgbClr val="6F6557"/>
                </a:solidFill>
                <a:latin typeface="Montserrat"/>
              </a:rPr>
              <a:t>СКРИН — ВСТАВИТЬ</a:t>
            </a:r>
          </a:p>
          <a:p>
            <a:pPr algn="ctr">
              <a:spcBef>
                <a:spcPts val="600"/>
              </a:spcBef>
            </a:pPr>
            <a:r>
              <a:rPr sz="1300" b="0">
                <a:solidFill>
                  <a:srgbClr val="1C1917"/>
                </a:solidFill>
                <a:latin typeface="Montserrat"/>
              </a:rPr>
              <a:t>Перед финальным CTA (сейчас нет)</a:t>
            </a:r>
          </a:p>
          <a:p>
            <a:pPr algn="ctr">
              <a:spcBef>
                <a:spcPts val="600"/>
              </a:spcBef>
            </a:pPr>
            <a:r>
              <a:rPr sz="1000" b="0">
                <a:solidFill>
                  <a:srgbClr val="6F6557"/>
                </a:solidFill>
                <a:latin typeface="Montserrat"/>
              </a:rPr>
              <a:t>файл: shots/12-faq.png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2834640" cy="457200"/>
          </a:xfrm>
          <a:prstGeom prst="roundRect">
            <a:avLst/>
          </a:prstGeom>
          <a:solidFill>
            <a:srgbClr val="6F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Montserrat"/>
              </a:rPr>
              <a:t>● СТРУКТУРА / ВОРОНКА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384048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6F6557"/>
                </a:solidFill>
                <a:latin typeface="Montserrat"/>
              </a:rPr>
              <a:t>Структура   ·   13/19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1C1917"/>
                </a:solidFill>
                <a:latin typeface="Montserrat"/>
              </a:rPr>
              <a:t>Нет гарантии / возврата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539496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6F7A52"/>
                </a:solidFill>
                <a:latin typeface="Montserrat"/>
              </a:rPr>
              <a:t>ГДЕ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1C1917"/>
                </a:solidFill>
                <a:latin typeface="Montserrat"/>
              </a:rPr>
              <a:t>Рядом с ценой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6F7A52"/>
                </a:solidFill>
                <a:latin typeface="Montserrat"/>
              </a:rPr>
              <a:t>ЧТО НЕ ТАК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1C1917"/>
                </a:solidFill>
                <a:latin typeface="Montserrat"/>
              </a:rPr>
              <a:t>На дорогом продукте нет risk reversal — что если не зайдёт.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6F7A52"/>
                </a:solidFill>
                <a:latin typeface="Montserrat"/>
              </a:rPr>
              <a:t>КАК ЧИНИТЬ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C1917"/>
                </a:solidFill>
                <a:latin typeface="Montserrat"/>
              </a:rPr>
              <a:t>Блок гарантии: условия возврата / «первое занятие решает» / явная политика.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2011680"/>
            <a:ext cx="5577840" cy="4297680"/>
          </a:xfrm>
          <a:prstGeom prst="roundRect">
            <a:avLst/>
          </a:prstGeom>
          <a:solidFill>
            <a:srgbClr val="ECE6DE"/>
          </a:solidFill>
          <a:ln w="15875">
            <a:solidFill>
              <a:srgbClr val="6F7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</a:pPr>
            <a:r>
              <a:rPr sz="1600" b="1">
                <a:solidFill>
                  <a:srgbClr val="6F6557"/>
                </a:solidFill>
                <a:latin typeface="Montserrat"/>
              </a:rPr>
              <a:t>СКРИН — ВСТАВИТЬ</a:t>
            </a:r>
          </a:p>
          <a:p>
            <a:pPr algn="ctr">
              <a:spcBef>
                <a:spcPts val="600"/>
              </a:spcBef>
            </a:pPr>
            <a:r>
              <a:rPr sz="1300" b="0">
                <a:solidFill>
                  <a:srgbClr val="1C1917"/>
                </a:solidFill>
                <a:latin typeface="Montserrat"/>
              </a:rPr>
              <a:t>Рядом с блоком оплаты</a:t>
            </a:r>
          </a:p>
          <a:p>
            <a:pPr algn="ctr">
              <a:spcBef>
                <a:spcPts val="600"/>
              </a:spcBef>
            </a:pPr>
            <a:r>
              <a:rPr sz="1000" b="0">
                <a:solidFill>
                  <a:srgbClr val="6F6557"/>
                </a:solidFill>
                <a:latin typeface="Montserrat"/>
              </a:rPr>
              <a:t>файл: shots/13-guarantee.png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2834640" cy="457200"/>
          </a:xfrm>
          <a:prstGeom prst="roundRect">
            <a:avLst/>
          </a:prstGeom>
          <a:solidFill>
            <a:srgbClr val="6F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Montserrat"/>
              </a:rPr>
              <a:t>● СТРУКТУРА / ВОРОНКА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384048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6F6557"/>
                </a:solidFill>
                <a:latin typeface="Montserrat"/>
              </a:rPr>
              <a:t>Структура   ·   14/19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1C1917"/>
                </a:solidFill>
                <a:latin typeface="Montserrat"/>
              </a:rPr>
              <a:t>«Отзывы» в меню — блока нет (битый якорь)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539496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6F7A52"/>
                </a:solidFill>
                <a:latin typeface="Montserrat"/>
              </a:rPr>
              <a:t>ГДЕ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1C1917"/>
                </a:solidFill>
                <a:latin typeface="Montserrat"/>
              </a:rPr>
              <a:t>Меню → Отзывы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6F7A52"/>
                </a:solidFill>
                <a:latin typeface="Montserrat"/>
              </a:rPr>
              <a:t>ЧТО НЕ ТАК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1C1917"/>
                </a:solidFill>
                <a:latin typeface="Montserrat"/>
              </a:rPr>
              <a:t>Пункт меню «Отзывы» есть, секции на странице нет → клик ведёт в никуда.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6F7A52"/>
                </a:solidFill>
                <a:latin typeface="Montserrat"/>
              </a:rPr>
              <a:t>КАК ЧИНИТЬ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C1917"/>
                </a:solidFill>
                <a:latin typeface="Montserrat"/>
              </a:rPr>
              <a:t>Добавить блок отзывов (первый поток → бета-тестеры / цитаты эксперта / кейсы) или убрать пункт из меню.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2011680"/>
            <a:ext cx="5577840" cy="4297680"/>
          </a:xfrm>
          <a:prstGeom prst="roundRect">
            <a:avLst/>
          </a:prstGeom>
          <a:solidFill>
            <a:srgbClr val="ECE6DE"/>
          </a:solidFill>
          <a:ln w="15875">
            <a:solidFill>
              <a:srgbClr val="6F7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</a:pPr>
            <a:r>
              <a:rPr sz="1600" b="1">
                <a:solidFill>
                  <a:srgbClr val="6F6557"/>
                </a:solidFill>
                <a:latin typeface="Montserrat"/>
              </a:rPr>
              <a:t>СКРИН — ВСТАВИТЬ</a:t>
            </a:r>
          </a:p>
          <a:p>
            <a:pPr algn="ctr">
              <a:spcBef>
                <a:spcPts val="600"/>
              </a:spcBef>
            </a:pPr>
            <a:r>
              <a:rPr sz="1300" b="0">
                <a:solidFill>
                  <a:srgbClr val="1C1917"/>
                </a:solidFill>
                <a:latin typeface="Montserrat"/>
              </a:rPr>
              <a:t>Верхнее меню: пункт «Отзывы»</a:t>
            </a:r>
          </a:p>
          <a:p>
            <a:pPr algn="ctr">
              <a:spcBef>
                <a:spcPts val="600"/>
              </a:spcBef>
            </a:pPr>
            <a:r>
              <a:rPr sz="1000" b="0">
                <a:solidFill>
                  <a:srgbClr val="6F6557"/>
                </a:solidFill>
                <a:latin typeface="Montserrat"/>
              </a:rPr>
              <a:t>файл: shots/14-reviews.png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2834640" cy="457200"/>
          </a:xfrm>
          <a:prstGeom prst="roundRect">
            <a:avLst/>
          </a:prstGeom>
          <a:solidFill>
            <a:srgbClr val="6F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Montserrat"/>
              </a:rPr>
              <a:t>● СТРУКТУРА / ВОРОНКА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384048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6F6557"/>
                </a:solidFill>
                <a:latin typeface="Montserrat"/>
              </a:rPr>
              <a:t>Структура   ·   15/19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1C1917"/>
                </a:solidFill>
                <a:latin typeface="Montserrat"/>
              </a:rPr>
              <a:t>«Сертификат» в меню — блока нет (битый якорь)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539496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6F7A52"/>
                </a:solidFill>
                <a:latin typeface="Montserrat"/>
              </a:rPr>
              <a:t>ГДЕ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1C1917"/>
                </a:solidFill>
                <a:latin typeface="Montserrat"/>
              </a:rPr>
              <a:t>Меню → Сертификат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6F7A52"/>
                </a:solidFill>
                <a:latin typeface="Montserrat"/>
              </a:rPr>
              <a:t>ЧТО НЕ ТАК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1C1917"/>
                </a:solidFill>
                <a:latin typeface="Montserrat"/>
              </a:rPr>
              <a:t>Пункт «Сертификат» есть, секции нет → битый якорь.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6F7A52"/>
                </a:solidFill>
                <a:latin typeface="Montserrat"/>
              </a:rPr>
              <a:t>КАК ЧИНИТЬ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C1917"/>
                </a:solidFill>
                <a:latin typeface="Montserrat"/>
              </a:rPr>
              <a:t>Добавить блок про сертификат/доказательство (репо + защита) или убрать пункт из меню.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2011680"/>
            <a:ext cx="5577840" cy="4297680"/>
          </a:xfrm>
          <a:prstGeom prst="roundRect">
            <a:avLst/>
          </a:prstGeom>
          <a:solidFill>
            <a:srgbClr val="ECE6DE"/>
          </a:solidFill>
          <a:ln w="15875">
            <a:solidFill>
              <a:srgbClr val="6F7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</a:pPr>
            <a:r>
              <a:rPr sz="1600" b="1">
                <a:solidFill>
                  <a:srgbClr val="6F6557"/>
                </a:solidFill>
                <a:latin typeface="Montserrat"/>
              </a:rPr>
              <a:t>СКРИН — ВСТАВИТЬ</a:t>
            </a:r>
          </a:p>
          <a:p>
            <a:pPr algn="ctr">
              <a:spcBef>
                <a:spcPts val="600"/>
              </a:spcBef>
            </a:pPr>
            <a:r>
              <a:rPr sz="1300" b="0">
                <a:solidFill>
                  <a:srgbClr val="1C1917"/>
                </a:solidFill>
                <a:latin typeface="Montserrat"/>
              </a:rPr>
              <a:t>Верхнее меню: пункт «Сертификат»</a:t>
            </a:r>
          </a:p>
          <a:p>
            <a:pPr algn="ctr">
              <a:spcBef>
                <a:spcPts val="600"/>
              </a:spcBef>
            </a:pPr>
            <a:r>
              <a:rPr sz="1000" b="0">
                <a:solidFill>
                  <a:srgbClr val="6F6557"/>
                </a:solidFill>
                <a:latin typeface="Montserrat"/>
              </a:rPr>
              <a:t>файл: shots/15-cert.png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2834640" cy="457200"/>
          </a:xfrm>
          <a:prstGeom prst="roundRect">
            <a:avLst/>
          </a:prstGeom>
          <a:solidFill>
            <a:srgbClr val="6F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Montserrat"/>
              </a:rPr>
              <a:t>● СТРУКТУРА / ВОРОНКА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384048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6F6557"/>
                </a:solidFill>
                <a:latin typeface="Montserrat"/>
              </a:rPr>
              <a:t>Воронка   ·   16/19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1C1917"/>
                </a:solidFill>
                <a:latin typeface="Montserrat"/>
              </a:rPr>
              <a:t>Форма заявки сразу после hero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539496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6F7A52"/>
                </a:solidFill>
                <a:latin typeface="Montserrat"/>
              </a:rPr>
              <a:t>ГДЕ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1C1917"/>
                </a:solidFill>
                <a:latin typeface="Montserrat"/>
              </a:rPr>
              <a:t>2-й экран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6F7A52"/>
                </a:solidFill>
                <a:latin typeface="Montserrat"/>
              </a:rPr>
              <a:t>ЧТО НЕ ТАК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1C1917"/>
                </a:solidFill>
                <a:latin typeface="Montserrat"/>
              </a:rPr>
              <a:t>Контакт просят до того, как показана ценность — рано в воронке, режет конверсию.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6F7A52"/>
                </a:solidFill>
                <a:latin typeface="Montserrat"/>
              </a:rPr>
              <a:t>КАК ЧИНИТЬ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C1917"/>
                </a:solidFill>
                <a:latin typeface="Montserrat"/>
              </a:rPr>
              <a:t>Форму вниз (после метода/результатов). Вверху — мягкий CTA + липкая кнопка в шапке.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2011680"/>
            <a:ext cx="5577840" cy="4297680"/>
          </a:xfrm>
          <a:prstGeom prst="roundRect">
            <a:avLst/>
          </a:prstGeom>
          <a:solidFill>
            <a:srgbClr val="ECE6DE"/>
          </a:solidFill>
          <a:ln w="15875">
            <a:solidFill>
              <a:srgbClr val="6F7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</a:pPr>
            <a:r>
              <a:rPr sz="1600" b="1">
                <a:solidFill>
                  <a:srgbClr val="6F6557"/>
                </a:solidFill>
                <a:latin typeface="Montserrat"/>
              </a:rPr>
              <a:t>СКРИН — ВСТАВИТЬ</a:t>
            </a:r>
          </a:p>
          <a:p>
            <a:pPr algn="ctr">
              <a:spcBef>
                <a:spcPts val="600"/>
              </a:spcBef>
            </a:pPr>
            <a:r>
              <a:rPr sz="1300" b="0">
                <a:solidFill>
                  <a:srgbClr val="1C1917"/>
                </a:solidFill>
                <a:latin typeface="Montserrat"/>
              </a:rPr>
              <a:t>2-й экран: форма заявки</a:t>
            </a:r>
          </a:p>
          <a:p>
            <a:pPr algn="ctr">
              <a:spcBef>
                <a:spcPts val="600"/>
              </a:spcBef>
            </a:pPr>
            <a:r>
              <a:rPr sz="1000" b="0">
                <a:solidFill>
                  <a:srgbClr val="6F6557"/>
                </a:solidFill>
                <a:latin typeface="Montserrat"/>
              </a:rPr>
              <a:t>файл: shots/16-form-early.png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2834640" cy="457200"/>
          </a:xfrm>
          <a:prstGeom prst="roundRect">
            <a:avLst/>
          </a:prstGeom>
          <a:solidFill>
            <a:srgbClr val="6F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Montserrat"/>
              </a:rPr>
              <a:t>● СТРУКТУРА / ВОРОНКА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384048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6F6557"/>
                </a:solidFill>
                <a:latin typeface="Montserrat"/>
              </a:rPr>
              <a:t>Воронка   ·   17/19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1C1917"/>
                </a:solidFill>
                <a:latin typeface="Montserrat"/>
              </a:rPr>
              <a:t>Боль показана слишком низко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539496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6F7A52"/>
                </a:solidFill>
                <a:latin typeface="Montserrat"/>
              </a:rPr>
              <a:t>ГДЕ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1C1917"/>
                </a:solidFill>
                <a:latin typeface="Montserrat"/>
              </a:rPr>
              <a:t>Порядок секций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6F7A52"/>
                </a:solidFill>
                <a:latin typeface="Montserrat"/>
              </a:rPr>
              <a:t>ЧТО НЕ ТАК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1C1917"/>
                </a:solidFill>
                <a:latin typeface="Montserrat"/>
              </a:rPr>
              <a:t>Блок проблем — 6-й по счёту, после обзора и «для кого». Agitation должен цеплять сразу после hero.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6F7A52"/>
                </a:solidFill>
                <a:latin typeface="Montserrat"/>
              </a:rPr>
              <a:t>КАК ЧИНИТЬ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C1917"/>
                </a:solidFill>
                <a:latin typeface="Montserrat"/>
              </a:rPr>
              <a:t>Поднять блок боли сразу под hero → затем решение (цикл SDD) → результаты.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2011680"/>
            <a:ext cx="5577840" cy="4297680"/>
          </a:xfrm>
          <a:prstGeom prst="roundRect">
            <a:avLst/>
          </a:prstGeom>
          <a:solidFill>
            <a:srgbClr val="ECE6DE"/>
          </a:solidFill>
          <a:ln w="15875">
            <a:solidFill>
              <a:srgbClr val="6F7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</a:pPr>
            <a:r>
              <a:rPr sz="1600" b="1">
                <a:solidFill>
                  <a:srgbClr val="6F6557"/>
                </a:solidFill>
                <a:latin typeface="Montserrat"/>
              </a:rPr>
              <a:t>СКРИН — ВСТАВИТЬ</a:t>
            </a:r>
          </a:p>
          <a:p>
            <a:pPr algn="ctr">
              <a:spcBef>
                <a:spcPts val="600"/>
              </a:spcBef>
            </a:pPr>
            <a:r>
              <a:rPr sz="1300" b="0">
                <a:solidFill>
                  <a:srgbClr val="1C1917"/>
                </a:solidFill>
                <a:latin typeface="Montserrat"/>
              </a:rPr>
              <a:t>Схема порядка блоков</a:t>
            </a:r>
          </a:p>
          <a:p>
            <a:pPr algn="ctr">
              <a:spcBef>
                <a:spcPts val="600"/>
              </a:spcBef>
            </a:pPr>
            <a:r>
              <a:rPr sz="1000" b="0">
                <a:solidFill>
                  <a:srgbClr val="6F6557"/>
                </a:solidFill>
                <a:latin typeface="Montserrat"/>
              </a:rPr>
              <a:t>файл: shots/17-order.png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2834640" cy="457200"/>
          </a:xfrm>
          <a:prstGeom prst="roundRect">
            <a:avLst/>
          </a:prstGeom>
          <a:solidFill>
            <a:srgbClr val="6F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Montserrat"/>
              </a:rPr>
              <a:t>● СТРУКТУРА / ВОРОНКА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384048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6F6557"/>
                </a:solidFill>
                <a:latin typeface="Montserrat"/>
              </a:rPr>
              <a:t>Воронка   ·   18/19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1C1917"/>
                </a:solidFill>
                <a:latin typeface="Montserrat"/>
              </a:rPr>
              <a:t>CTA-зоопарк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539496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6F7A52"/>
                </a:solidFill>
                <a:latin typeface="Montserrat"/>
              </a:rPr>
              <a:t>ГДЕ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1C1917"/>
                </a:solidFill>
                <a:latin typeface="Montserrat"/>
              </a:rPr>
              <a:t>По всей странице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6F7A52"/>
                </a:solidFill>
                <a:latin typeface="Montserrat"/>
              </a:rPr>
              <a:t>ЧТО НЕ ТАК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1C1917"/>
                </a:solidFill>
                <a:latin typeface="Montserrat"/>
              </a:rPr>
              <a:t>Конкурируют 4 разных CTA: «Хочу консультацию», «Оставить заявку», «Получить гайд», «Купить» — размывают действие.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6F7A52"/>
                </a:solidFill>
                <a:latin typeface="Montserrat"/>
              </a:rPr>
              <a:t>КАК ЧИНИТЬ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C1917"/>
                </a:solidFill>
                <a:latin typeface="Montserrat"/>
              </a:rPr>
              <a:t>Один основной CTA (заявка/консультация) + один вторичный (гайд = lead magnet). «Купить» — только после доказанной ценности.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2011680"/>
            <a:ext cx="5577840" cy="4297680"/>
          </a:xfrm>
          <a:prstGeom prst="roundRect">
            <a:avLst/>
          </a:prstGeom>
          <a:solidFill>
            <a:srgbClr val="ECE6DE"/>
          </a:solidFill>
          <a:ln w="15875">
            <a:solidFill>
              <a:srgbClr val="6F7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</a:pPr>
            <a:r>
              <a:rPr sz="1600" b="1">
                <a:solidFill>
                  <a:srgbClr val="6F6557"/>
                </a:solidFill>
                <a:latin typeface="Montserrat"/>
              </a:rPr>
              <a:t>СКРИН — ВСТАВИТЬ</a:t>
            </a:r>
          </a:p>
          <a:p>
            <a:pPr algn="ctr">
              <a:spcBef>
                <a:spcPts val="600"/>
              </a:spcBef>
            </a:pPr>
            <a:r>
              <a:rPr sz="1300" b="0">
                <a:solidFill>
                  <a:srgbClr val="1C1917"/>
                </a:solidFill>
                <a:latin typeface="Montserrat"/>
              </a:rPr>
              <a:t>CTA-кнопки (hero + шапка)</a:t>
            </a:r>
          </a:p>
          <a:p>
            <a:pPr algn="ctr">
              <a:spcBef>
                <a:spcPts val="600"/>
              </a:spcBef>
            </a:pPr>
            <a:r>
              <a:rPr sz="1000" b="0">
                <a:solidFill>
                  <a:srgbClr val="6F6557"/>
                </a:solidFill>
                <a:latin typeface="Montserrat"/>
              </a:rPr>
              <a:t>файл: shots/18-cta-zoo.png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2834640" cy="457200"/>
          </a:xfrm>
          <a:prstGeom prst="roundRect">
            <a:avLst/>
          </a:prstGeom>
          <a:solidFill>
            <a:srgbClr val="6F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Montserrat"/>
              </a:rPr>
              <a:t>● СТРУКТУРА / ВОРОНКА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384048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6F6557"/>
                </a:solidFill>
                <a:latin typeface="Montserrat"/>
              </a:rPr>
              <a:t>Честность   ·   19/19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1C1917"/>
                </a:solidFill>
                <a:latin typeface="Montserrat"/>
              </a:rPr>
              <a:t>«Процесс в команде» — не продавать как ядро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539496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6F7A52"/>
                </a:solidFill>
                <a:latin typeface="Montserrat"/>
              </a:rPr>
              <a:t>ГДЕ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1C1917"/>
                </a:solidFill>
                <a:latin typeface="Montserrat"/>
              </a:rPr>
              <a:t>Блок «С какими задачами…», карточка {6}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6F7A52"/>
                </a:solidFill>
                <a:latin typeface="Montserrat"/>
              </a:rPr>
              <a:t>ЧТО НЕ ТАК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1C1917"/>
                </a:solidFill>
                <a:latin typeface="Montserrat"/>
              </a:rPr>
              <a:t>Командный governance (мульти-автор спеки, PR-ревью спек) в программе — v2/enrichment, вне обязательного канона. Если звучит как «поставишь процесс всей команде» — оверпромис.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6F7A52"/>
                </a:solidFill>
                <a:latin typeface="Montserrat"/>
              </a:rPr>
              <a:t>КАК ЧИНИТЬ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C1917"/>
                </a:solidFill>
                <a:latin typeface="Montserrat"/>
              </a:rPr>
              <a:t>Свести к личному/командному workflow по ОР-6; team-governance пометить как бонус/v2, не как гарантию.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2011680"/>
            <a:ext cx="5577840" cy="4297680"/>
          </a:xfrm>
          <a:prstGeom prst="roundRect">
            <a:avLst/>
          </a:prstGeom>
          <a:solidFill>
            <a:srgbClr val="ECE6DE"/>
          </a:solidFill>
          <a:ln w="15875">
            <a:solidFill>
              <a:srgbClr val="6F7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</a:pPr>
            <a:r>
              <a:rPr sz="1600" b="1">
                <a:solidFill>
                  <a:srgbClr val="6F6557"/>
                </a:solidFill>
                <a:latin typeface="Montserrat"/>
              </a:rPr>
              <a:t>СКРИН — ВСТАВИТЬ</a:t>
            </a:r>
          </a:p>
          <a:p>
            <a:pPr algn="ctr">
              <a:spcBef>
                <a:spcPts val="600"/>
              </a:spcBef>
            </a:pPr>
            <a:r>
              <a:rPr sz="1300" b="0">
                <a:solidFill>
                  <a:srgbClr val="1C1917"/>
                </a:solidFill>
                <a:latin typeface="Montserrat"/>
              </a:rPr>
              <a:t>Карточка {6} «Процесс в команде»</a:t>
            </a:r>
          </a:p>
          <a:p>
            <a:pPr algn="ctr">
              <a:spcBef>
                <a:spcPts val="600"/>
              </a:spcBef>
            </a:pPr>
            <a:r>
              <a:rPr sz="1000" b="0">
                <a:solidFill>
                  <a:srgbClr val="6F6557"/>
                </a:solidFill>
                <a:latin typeface="Montserrat"/>
              </a:rPr>
              <a:t>файл: shots/19-overpromise.png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Топ к немедленному действию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1. Цена — убрать плейсхолдер «00 000 ₽», проставить реальную (крит).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2. Hero — починить наложение эйброу и склейку строки пруфов.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3. CTA-карточка «Готовы перейти» — развести заголовок и буллеты.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4. Добавить блок «Преподаватель» — без него живой курс не продать.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5. Добавить FAQ + гарантию; починить битые якоря «Отзывы»/«Сертификат».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6. Pinned-секции (уровни/проблемы/цикл/GitHub) — проверить на живом скролле.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7. Форму заявки вниз, один основной CTA; боль поднять под hero.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